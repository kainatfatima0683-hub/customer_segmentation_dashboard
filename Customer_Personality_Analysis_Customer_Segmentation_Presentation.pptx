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640080"/>
            <a:ext cx="73152" cy="91440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8" y="640080"/>
            <a:ext cx="73152" cy="91440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5256" y="640080"/>
            <a:ext cx="73152" cy="91440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914400"/>
            <a:ext cx="9875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5F8FA"/>
                </a:solidFill>
                <a:latin typeface="Aptos Display"/>
              </a:rPr>
              <a:t>Customer Personality Analysis
&amp; Customer Segmentation Dashboard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5BEAA"/>
                </a:solidFill>
                <a:latin typeface="Aptos"/>
              </a:rPr>
              <a:t>Machine Learning / Data Science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154680"/>
            <a:ext cx="2919197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dirty="0">
                <a:solidFill>
                  <a:srgbClr val="F5F8FA"/>
                </a:solidFill>
              </a:rPr>
              <a:t>Prepared by: </a:t>
            </a:r>
            <a:r>
              <a:rPr sz="1900" b="1" dirty="0" err="1">
                <a:solidFill>
                  <a:srgbClr val="F5F8FA"/>
                </a:solidFill>
              </a:rPr>
              <a:t>Kainat</a:t>
            </a:r>
            <a:r>
              <a:rPr sz="1900" b="1" dirty="0">
                <a:solidFill>
                  <a:srgbClr val="F5F8FA"/>
                </a:solidFill>
              </a:rPr>
              <a:t> </a:t>
            </a:r>
            <a:r>
              <a:rPr sz="1900" b="1" dirty="0" smtClean="0">
                <a:solidFill>
                  <a:srgbClr val="F5F8FA"/>
                </a:solidFill>
              </a:rPr>
              <a:t>Fatima</a:t>
            </a:r>
            <a:endParaRPr sz="1900" b="1" dirty="0">
              <a:solidFill>
                <a:srgbClr val="F5F8FA"/>
              </a:solidFill>
            </a:endParaRP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834640"/>
            <a:ext cx="3703320" cy="1828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End-to-end customer segmentation and decision-support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60320" cy="13258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32588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53895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CUSTOMERS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2,240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Final cleaned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25880"/>
            <a:ext cx="2560320" cy="13258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3280" y="1325880"/>
            <a:ext cx="54864" cy="132588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453895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FEATURES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15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Selected / engineered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2560320" cy="13258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54864" cy="132588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453895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SEGMENTS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4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Business-oriented customer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325880"/>
            <a:ext cx="2560320" cy="13258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0" y="1325880"/>
            <a:ext cx="54864" cy="132588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4272" y="1453895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MODEL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K=4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K-Means + StandardScaler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Built an unsupervised learning workflow for behavioral customer segmentation.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Converted numerical clusters into interpretable business personas.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Integrated the trained model into a six-page Streamlit dashboard.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Added interactive analytics, prediction, recommendations, and QA 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Why automated customer segmentation was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303520" cy="42976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4864" cy="429768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08176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PROBLEM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Large customer datasets contain demographic, spending, channel, and campaign-response patterns that are difficult to interpret manually.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Generic marketing can waste budget and reduce campaign effectiveness.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High-value and at-risk customers may remain unidentified.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Static analysis does not easily reveal multi-attribute behavioral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57800" cy="42976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" cy="429768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408176"/>
            <a:ext cx="4983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OBJECTIVES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Develop a practical ML-to-dashboard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Clean and prepare the Customer Personality Analysis dataset.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Select meaningful features and standardize them.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Train K-Means with four final clusters.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Profile clusters and assign business-oriented names.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Deploy an interactive dashboard with model-backed prediction.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Dataset &amp; Selected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Customer Personality Analysis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834640" cy="12344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123444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62456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DATASET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2,240 records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cleaned_final.csv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234440"/>
            <a:ext cx="2834640" cy="12344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03320" y="1234440"/>
            <a:ext cx="54864" cy="123444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67911" y="1362456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FEATURE SPACE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15 features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demographic + behavioral + channel + campaign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234440"/>
            <a:ext cx="2834640" cy="12344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234440"/>
            <a:ext cx="54864" cy="123444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1" y="1362456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FINAL MODEL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K-Means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4 clusters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234440"/>
            <a:ext cx="1737360" cy="12344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38360" y="1234440"/>
            <a:ext cx="54864" cy="123444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2952" y="1362456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SCALING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StandardScaler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mean 0, std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Demographic: Income, Age, Children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Behavioral: Total_Spend, Recency, NumDealsPurchases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Channels: NumWebPurchases, NumStorePurchases, NumCatalogPurchases, NumWebVisitsMonth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Campaign response: AcceptedCmp1–AcceptedCmp5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Data 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Preparing a consistent numerical feature matrix for distance-based clustering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58368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371600"/>
            <a:ext cx="3749039" cy="105156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800" y="1371600"/>
            <a:ext cx="54864" cy="105156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499616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DATA CLEANING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Missing-value handling and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606040"/>
            <a:ext cx="3749039" cy="105156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2606040"/>
            <a:ext cx="54864" cy="105156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2734056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FEATURE ENGINEERING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Age and Total_Spend derived for segmentation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840480"/>
            <a:ext cx="3749039" cy="105156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3840480"/>
            <a:ext cx="54864" cy="105156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3968496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STANDARDIZATION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z = (x − μ) / 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5074920"/>
            <a:ext cx="3749039" cy="82296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5074920"/>
            <a:ext cx="54864" cy="82296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52029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WHY SCALE?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Prevents high-magnitude features from dominating distance calculations.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Machine 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Unsupervised K-Means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783080" cy="21488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4864" cy="214884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56816"/>
            <a:ext cx="1508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Prepare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15 selected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5BEAA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828800"/>
            <a:ext cx="1783080" cy="21488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96312" y="1828800"/>
            <a:ext cx="54864" cy="214884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0904" y="1956816"/>
            <a:ext cx="1508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Scale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StandardScaler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5BEAA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28800"/>
            <a:ext cx="1783080" cy="21488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98264" y="1828800"/>
            <a:ext cx="54864" cy="214884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1956816"/>
            <a:ext cx="1508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Evaluate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Elbow + Silhouette +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5BEAA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828800"/>
            <a:ext cx="1783080" cy="21488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0216" y="1828800"/>
            <a:ext cx="54864" cy="214884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1956816"/>
            <a:ext cx="1508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Cluster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K-Means, K=4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5BEAA"/>
                </a:solidFill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1828800"/>
            <a:ext cx="1783080" cy="21488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02168" y="1828800"/>
            <a:ext cx="54864" cy="214884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956816"/>
            <a:ext cx="1508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Profile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Compare cluster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5BEAA"/>
                </a:solidFill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828800"/>
            <a:ext cx="1783080" cy="214884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104120" y="1828800"/>
            <a:ext cx="54864" cy="214884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68712" y="1956816"/>
            <a:ext cx="1508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Interpret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Business personas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2136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5BEAA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K-Means was selected because the dataset has no predefined target segment.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Cluster quality was assessed using WCSS/Elbow, Silhouette, and Davies–Bouldin analysis.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The final application uses K=4 for operationally simple, interpretable segmentation.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Cluster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Elbow Method, Silhouette Score, and Davies–Bouldin Index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44200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B8C6"/>
                </a:solidFill>
              </a:rPr>
              <a:t>Combined evaluation view used to support the final clustering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Customer Segment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Four business-oriented personas derived from cluster characteristics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12648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325880"/>
            <a:ext cx="425196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86600" y="1325880"/>
            <a:ext cx="54864" cy="9601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51192" y="1453895"/>
            <a:ext cx="3977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Premium Buyers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High income • high spending  |  Catalog /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404872"/>
            <a:ext cx="425196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86600" y="2404872"/>
            <a:ext cx="54864" cy="96012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51192" y="2532888"/>
            <a:ext cx="3977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High-Value Customers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Solid income • consistent spending  |  Web /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483863"/>
            <a:ext cx="425196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86600" y="3483863"/>
            <a:ext cx="54864" cy="96012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51192" y="3611879"/>
            <a:ext cx="3977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Discount Seekers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Price-sensitive • deal-focused  |  Web / Deals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562855"/>
            <a:ext cx="425196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4562855"/>
            <a:ext cx="54864" cy="9601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1192" y="4690871"/>
            <a:ext cx="3977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At-Risk Customers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High recency • lower engagement  |  Minimal / Dormant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Streamlit + Plotly decision-support interface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Home / Overview with KPI summaries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Customer Segments distribution and comparison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Segment Analysis with behavioral insights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Customer Prediction for individual inference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Business Recommendations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About Model and artifact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Segment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Interactive comparison of customer distribution and segment insights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72084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508760"/>
            <a:ext cx="361188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26679" y="1508760"/>
            <a:ext cx="54864" cy="109728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91271" y="1636776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INTERACTIVE FILTERS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Age, income, and segment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788920"/>
            <a:ext cx="361188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2788920"/>
            <a:ext cx="54864" cy="109728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91271" y="2916936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VISUAL ANALYTICS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Segment distribution and average income comparisons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069080"/>
            <a:ext cx="361188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4069080"/>
            <a:ext cx="54864" cy="109728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1" y="4197096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DATA ACCESS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Customer search and filtered CSV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Model Integration &amp; Customer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Saved ML artifacts connected directly to the Streamlit application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89788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371600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03720" y="1371600"/>
            <a:ext cx="54864" cy="5029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68312" y="149961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Customer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993392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03720" y="1993392"/>
            <a:ext cx="54864" cy="50292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68312" y="2121408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Feature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615184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2615184"/>
            <a:ext cx="54864" cy="5029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68312" y="27432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StandardScaler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236976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3236976"/>
            <a:ext cx="54864" cy="50292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33649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K-Means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858768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03720" y="3858768"/>
            <a:ext cx="54864" cy="5029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68312" y="398678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Cluster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480560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3720" y="4480560"/>
            <a:ext cx="54864" cy="50292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68312" y="460857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Segment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5102352"/>
            <a:ext cx="4160520" cy="5029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3720" y="5102352"/>
            <a:ext cx="54864" cy="5029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8312" y="5230368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6235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5F8FA"/>
                </a:solidFill>
                <a:latin typeface="Aptos"/>
              </a:defRPr>
            </a:pPr>
            <a:r>
              <a:t>selected_features.txt keeps inference feature order consistent.</a:t>
            </a:r>
          </a:p>
          <a:p>
            <a:pPr>
              <a:spcAft>
                <a:spcPts val="800"/>
              </a:spcAft>
              <a:defRPr sz="1100">
                <a:solidFill>
                  <a:srgbClr val="F5F8FA"/>
                </a:solidFill>
                <a:latin typeface="Aptos"/>
              </a:defRPr>
            </a:pPr>
            <a:r>
              <a:t>Saved scaler and K-Means artifacts are loaded by the application.</a:t>
            </a:r>
          </a:p>
          <a:p>
            <a:pPr>
              <a:spcAft>
                <a:spcPts val="800"/>
              </a:spcAft>
              <a:defRPr sz="1100">
                <a:solidFill>
                  <a:srgbClr val="F5F8FA"/>
                </a:solidFill>
                <a:latin typeface="Aptos"/>
              </a:defRPr>
            </a:pPr>
            <a:r>
              <a:t>Prediction returns a cluster and maps it to a human-readable business persona.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Strategic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Turning segmentation into actionable marketing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9260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" cy="9601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53895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Premium Buyers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297180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94760" y="1325880"/>
            <a:ext cx="54864" cy="9601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9352" y="1453895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Business Focus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VIP retention &amp; value maximization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325880"/>
            <a:ext cx="42976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95160" y="1325880"/>
            <a:ext cx="54864" cy="9601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59752" y="1453895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Recommended Actions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Exclusive loyalty, early product access, premium catalog/store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29260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54864" cy="96012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59689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High-Value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468880"/>
            <a:ext cx="297180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94760" y="2468880"/>
            <a:ext cx="54864" cy="96012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9352" y="2596896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Business Focus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Cross-selling &amp; loyalty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468880"/>
            <a:ext cx="42976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95160" y="2468880"/>
            <a:ext cx="54864" cy="96012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9752" y="2596896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Recommended Actions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Personalized campaigns, tiered rewards, complementary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29260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611880"/>
            <a:ext cx="54864" cy="96012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73989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Discount Seekers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3611880"/>
            <a:ext cx="297180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94760" y="3611880"/>
            <a:ext cx="54864" cy="96012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59352" y="3739896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Business Focus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Volume incentivization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3611880"/>
            <a:ext cx="42976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95160" y="3611880"/>
            <a:ext cx="54864" cy="96012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9752" y="3739896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Recommended Actions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Targeted discount codes, value bundles, promotional web campaigns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80"/>
            <a:ext cx="29260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754880"/>
            <a:ext cx="54864" cy="9601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882896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At-Risk Customers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754880"/>
            <a:ext cx="297180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794760" y="4754880"/>
            <a:ext cx="54864" cy="9601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9352" y="4882896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Business Focus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Churn mitigation &amp; win-back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60" y="4754880"/>
            <a:ext cx="42976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995160" y="4754880"/>
            <a:ext cx="54864" cy="9601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9752" y="4882896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Recommended Actions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Re-engagement emails, win-back incentives, feedback surveys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Quality Assurance &amp; Defect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Day 4 functional, interface, filtering, visualization, and model-inference testing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40680" cy="2880360"/>
          </a:xfrm>
          <a:prstGeom prst="rect">
            <a:avLst/>
          </a:prstGeom>
        </p:spPr>
      </p:pic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4480560"/>
            <a:ext cx="33832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4480560"/>
            <a:ext cx="54864" cy="96012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4608576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TEST RESULTS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PASS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Model initialization, filtering, Plotly rendering, search, CSV export, and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480560"/>
            <a:ext cx="33832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4480560"/>
            <a:ext cx="54864" cy="96012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4608576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DEFECT 01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Resolved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Feature-order mismatch fixed using selected_features.txt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480560"/>
            <a:ext cx="3383280" cy="96012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4480560"/>
            <a:ext cx="54864" cy="96012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4608576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DEFECT 02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Resolved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Chart redraw latency reduced using suitable Streamlit caching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5F8FA"/>
                </a:solidFill>
                <a:latin typeface="Aptos Display"/>
              </a:rPr>
              <a:t>Project Outcomes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8C6"/>
                </a:solidFill>
                <a:latin typeface="Aptos"/>
              </a:rPr>
              <a:t>Final deliverables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56032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1097280"/>
          </a:xfrm>
          <a:prstGeom prst="rect">
            <a:avLst/>
          </a:prstGeom>
          <a:solidFill>
            <a:srgbClr val="35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62456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DATA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2,240 records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processed through final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56032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234440"/>
            <a:ext cx="54864" cy="1097280"/>
          </a:xfrm>
          <a:prstGeom prst="rect">
            <a:avLst/>
          </a:prstGeom>
          <a:solidFill>
            <a:srgbClr val="488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362456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SEGMENTS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4 personas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business-oriented customer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256032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4864" cy="1097280"/>
          </a:xfrm>
          <a:prstGeom prst="rect">
            <a:avLst/>
          </a:prstGeom>
          <a:solidFill>
            <a:srgbClr val="40B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62456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DASHBOARD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6 pages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interactive Streamlit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234440"/>
            <a:ext cx="2560320" cy="1097280"/>
          </a:xfrm>
          <a:prstGeom prst="roundRect">
            <a:avLst/>
          </a:prstGeom>
          <a:solidFill>
            <a:srgbClr val="182331"/>
          </a:solidFill>
          <a:ln>
            <a:solidFill>
              <a:srgbClr val="2D3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15400" y="1234440"/>
            <a:ext cx="54864" cy="1097280"/>
          </a:xfrm>
          <a:prstGeom prst="rect">
            <a:avLst/>
          </a:prstGeom>
          <a:solidFill>
            <a:srgbClr val="E8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362456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AB8C6"/>
                </a:solidFill>
                <a:latin typeface="Aptos"/>
              </a:rPr>
              <a:t>QA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F5F8FA"/>
                </a:solidFill>
                <a:latin typeface="Aptos Display"/>
              </a:rPr>
              <a:t>Completed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AAB8C6"/>
                </a:solidFill>
                <a:latin typeface="Aptos"/>
              </a:rPr>
              <a:t>test + defect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Deploy the Streamlit dashboard to a cloud environment.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Connect the application to a live database.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Introduce periodic re-clustering as new customer data becomes available.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Compare additional clustering approaches and extend analysis with RFM.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Integrate segmentation with CRM or marketing automation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5F8FA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92024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AAB8C6"/>
                </a:solidFill>
              </a:rPr>
              <a:t>The project demonstrates an end-to-end machine learning workflow—from data preparation and K-Means clustering to model integration, interactive visualization, business recommendations, and quality assurance.</a:t>
            </a:r>
          </a:p>
          <a:p>
            <a:pPr algn="ctr">
              <a:spcBef>
                <a:spcPts val="1800"/>
              </a:spcBef>
            </a:pPr>
            <a:r>
              <a:rPr sz="2800" b="1">
                <a:solidFill>
                  <a:srgbClr val="35BEAA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006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5F8FA"/>
                </a:solidFill>
              </a:rPr>
              <a:t>Kainat Fatima  •  Customer Personality Analysis &amp; Customer Segmentation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8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8C6"/>
                </a:solidFill>
              </a:rPr>
              <a:t>Customer Personality Analysis &amp; Customer Segmentation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AB8C6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944</Words>
  <Application>Microsoft Office PowerPoint</Application>
  <PresentationFormat>Widescreen</PresentationFormat>
  <Paragraphs>213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2026-08-17T06:54:51Z</dcterms:modified>
  <cp:category/>
</cp:coreProperties>
</file>